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Monto (MM$)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Insulina Glargina 300U</c:v>
                  </c:pt>
                  <c:pt idx="1">
                    <c:v>Inmunoglobulina G 5-10g</c:v>
                  </c:pt>
                  <c:pt idx="2">
                    <c:v>Nivolumab [ONC]</c:v>
                  </c:pt>
                  <c:pt idx="3">
                    <c:v>Paracetamol 500 mg</c:v>
                  </c:pt>
                  <c:pt idx="4">
                    <c:v>Pembrolizumab [ONC]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12214</c:v>
                </c:pt>
                <c:pt idx="1">
                  <c:v>11866</c:v>
                </c:pt>
                <c:pt idx="2">
                  <c:v>10565</c:v>
                </c:pt>
                <c:pt idx="3">
                  <c:v>9883</c:v>
                </c:pt>
                <c:pt idx="4">
                  <c:v>9856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Gasto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90D9"/>
              </a:solidFill>
              <a:effectLst/>
            </c:spPr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Artritis Reumatoide</c:v>
                </c:pt>
                <c:pt idx="1">
                  <c:v>Cáncer Mama HER2+</c:v>
                </c:pt>
                <c:pt idx="2">
                  <c:v>Esclerosis Multiple</c:v>
                </c:pt>
                <c:pt idx="3">
                  <c:v>Enf. de Crohn</c:v>
                </c:pt>
                <c:pt idx="4">
                  <c:v>Otros programas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72663</c:v>
                </c:pt>
                <c:pt idx="1">
                  <c:v>26353</c:v>
                </c:pt>
                <c:pt idx="2">
                  <c:v>24225</c:v>
                </c:pt>
                <c:pt idx="3">
                  <c:v>15721</c:v>
                </c:pt>
                <c:pt idx="4">
                  <c:v>79886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4206240"/>
            <a:ext cx="1097280" cy="9372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DE MERCADO  |  CHILE  |  2024-2025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Oncología en el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Público Chileno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11480" y="3035808"/>
            <a:ext cx="32004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182112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para laboratorios que quieren ingresar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expandirse en el mercado público oncológico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Anuario CENABAST 2024  |  Guías GES/AUGE MINSAL  |  ISP/ANAMED  |  API Mercado Público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 FARMACÉUTICO ONCOLÓGICO EN CHILE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actores definen el acceso al mercado público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0574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2057400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554480"/>
            <a:ext cx="685800" cy="6858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34086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MINSAL / 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114300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926080"/>
            <a:ext cx="1837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que patologías oncológicas tienen garantías explícitas y que tratamientos se recomiendan en guías clínicas.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14600" y="1325880"/>
            <a:ext cx="20574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325880"/>
            <a:ext cx="2057400" cy="109728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554480"/>
            <a:ext cx="685800" cy="685800"/>
          </a:xfrm>
          <a:prstGeom prst="ellipse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234086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/ ANAMED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71800" y="2834640"/>
            <a:ext cx="114300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24328" y="2926080"/>
            <a:ext cx="1837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Otorga el Registro Sanitario a medicamentos. Sin el, no se puede participar en licitaciones públicas.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325880"/>
            <a:ext cx="20574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325880"/>
            <a:ext cx="2057400" cy="10972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40680" y="1554480"/>
            <a:ext cx="685800" cy="68580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34086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CENABAST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12080" y="2834640"/>
            <a:ext cx="114300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926080"/>
            <a:ext cx="1837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 compras. Agrega demanda de 595 clientes. Opera via licitación pública en Mercado Público.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95160" y="1325880"/>
            <a:ext cx="20574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95160" y="1325880"/>
            <a:ext cx="205740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1554480"/>
            <a:ext cx="685800" cy="6858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86600" y="234086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Ricarte Soto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52360" y="2834640"/>
            <a:ext cx="114300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04888" y="2926080"/>
            <a:ext cx="1837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 medicamentos de alto costo. Cáncer de Mama HER2+ es el 2do mayor tratamiento cubierto.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57400" y="3035808"/>
            <a:ext cx="27432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67712" y="292608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97680" y="3035808"/>
            <a:ext cx="27432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07992" y="292608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37960" y="3035808"/>
            <a:ext cx="27432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48272" y="292608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480974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Sanitario ISP es la puerta de entrada. Sin el, ningún otro paso es posible.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MERCADO: GRANDE Y EN FUERTE CRECIMIENTO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CENABAST 2024 — sistema público de salud Chile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2011680" cy="30632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25880"/>
            <a:ext cx="2011680" cy="128016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3619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$1,48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billones CLP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371600" cy="2743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834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operaciones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CENABAST 2024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1554480" cy="310896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204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+27,5% vs 2023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23160" y="1325880"/>
            <a:ext cx="2011680" cy="30632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325880"/>
            <a:ext cx="2011680" cy="12801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53619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$218.648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MM CLP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743200" y="2743200"/>
            <a:ext cx="1371600" cy="2743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2834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Ricarte Soto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(alto costo)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51760" y="3520440"/>
            <a:ext cx="1554480" cy="310896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35204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+51,4% vs 2023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17720" y="1325880"/>
            <a:ext cx="2011680" cy="30632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325880"/>
            <a:ext cx="2011680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53619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$72.462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MM CLP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937760" y="2743200"/>
            <a:ext cx="1371600" cy="2743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834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Enfermedades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Costo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520440"/>
            <a:ext cx="1554480" cy="310896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5204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+101% vs 2023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12280" y="1325880"/>
            <a:ext cx="2011680" cy="30632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1325880"/>
            <a:ext cx="2011680" cy="128016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153619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595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132320" y="2743200"/>
            <a:ext cx="1371600" cy="2743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2834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activos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Intermediación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40880" y="3520440"/>
            <a:ext cx="1554480" cy="310896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35204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 vs 2023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4320" y="4681728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CENABAST es el principal comprador del sector salud en Mercado Público: 30,2% del total del sector.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ONCOLÓGICOS LIDERAN EL GASTO DE ALTO VALOR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productos por monto — Intermediación CENABAST 2024 (en millones CLP)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261872"/>
          <a:ext cx="53035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1261872"/>
            <a:ext cx="30175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06440" y="1261872"/>
            <a:ext cx="3017520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14264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Inmunoterapia oncológica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0" y="1865376"/>
            <a:ext cx="2706624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0" y="1965960"/>
            <a:ext cx="2706624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0" y="1965960"/>
            <a:ext cx="64008" cy="7498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62472" y="2029968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Nivolumab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62472" y="227685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$10.565 MM  |  9.772 frascos / año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062472" y="247802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Anti-PD1 | melanoma, pulmón, renal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943600" y="2834640"/>
            <a:ext cx="2706624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0" y="2834640"/>
            <a:ext cx="64008" cy="7498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62472" y="2898648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Pembrolizumab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062472" y="314553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$9.856 MM  |  4.449 frascos / año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062472" y="334670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Anti-PD1 | multiples indicaciones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943600" y="3703320"/>
            <a:ext cx="2706624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0" y="3703320"/>
            <a:ext cx="64008" cy="7498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62472" y="3767328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Trastuzumab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062472" y="401421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$26.138 MM  |  via Ley Ricarte Soto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062472" y="421538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Anti-HER2 | cáncer de mama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74320" y="46817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[ONC] = fármacos oncológicos destacados. Trastuzumab opera via Ley Ricarte Soto, no Intermediación directa.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RICARTE SOTO: FINANCIAMIENTO DE MEDICAMENTOS DE ALTO COSTO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$218.648 millones CLP en 2024  |  Crecimiento +51,4% en un año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1261872"/>
          <a:ext cx="43891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846320" y="1261872"/>
            <a:ext cx="3977640" cy="3337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846320" y="1261872"/>
            <a:ext cx="397764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10912" y="14264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Oncología en Ley Ricarte Soto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6048" y="1920240"/>
          <a:ext cx="3703320" cy="1389888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Tratamiento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 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Cáncer Mama HER2+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$26.353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de 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Trastuzumab 600mg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$26.138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1er producto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Enf. Alto Costo 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$72.462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+101% vs 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956048" y="3438144"/>
            <a:ext cx="3703320" cy="1005840"/>
          </a:xfrm>
          <a:prstGeom prst="rect">
            <a:avLst/>
          </a:prstGeom>
          <a:solidFill>
            <a:srgbClr val="FFF3CD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956048" y="3438144"/>
            <a:ext cx="91440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120640" y="3493008"/>
            <a:ext cx="34564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Trastuzumab es el producto individual con mayor gasto de toda la Ley Ricarte Soto: 12% del programa completo.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74320" y="481888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Anuario CENABAST 2024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RUTAS PARA INGRESAR AL MERCADO PÚBLICO ONCOLÓGICO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869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ruta tiene requisitos, plazos y oportunidades distintas. No son excluyentes.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2880" y="1261872"/>
            <a:ext cx="281635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261872"/>
            <a:ext cx="2816352" cy="14630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481328"/>
            <a:ext cx="420624" cy="420624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14630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CENABAST Intermediación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2608" y="2029968"/>
            <a:ext cx="2596896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103120"/>
            <a:ext cx="2542032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Licitación pública en Mercado Público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595 clientes activos (hospitales, APS)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Fármacos necesitan Registro ISP vigente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Volumen: $586.038 MM en 2024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proceso: 3 a 6 meses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4187952"/>
            <a:ext cx="2633472" cy="56692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18795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genéricos y biosimilares con registro vigente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82112" y="1261872"/>
            <a:ext cx="281635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1261872"/>
            <a:ext cx="2816352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481328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03904" y="14630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Ricarte Soto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91840" y="2029968"/>
            <a:ext cx="2596896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46704" y="2103120"/>
            <a:ext cx="2542032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medicamentos de alto costo sin GES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evaluación por Comité LRS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debe tener registro ISP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Volumen: $218.648 MM en 2024 (+51%)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Proceso: 12 a 24 meses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73552" y="4187952"/>
            <a:ext cx="2633472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418795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óptima para biológicos innovadores de oncología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81344" y="1261872"/>
            <a:ext cx="281635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81344" y="1261872"/>
            <a:ext cx="2816352" cy="146304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91072" y="1481328"/>
            <a:ext cx="420624" cy="420624"/>
          </a:xfrm>
          <a:prstGeom prst="ellipse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1072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03136" y="14630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 / AUGE (Guías Clínicas)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91072" y="2029968"/>
            <a:ext cx="2596896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5936" y="2103120"/>
            <a:ext cx="2542032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estar en guía clínica MINSAL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cobertura en toda la red pública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revisadas cada 3 a 5 años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21+ condiciones oncológicas con GES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estabilidad y previsibilidad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72784" y="4187952"/>
            <a:ext cx="2633472" cy="566928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64224" y="418795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evidencia clínica sólida y gestión regulatoria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CLÍNICAS GES: LO QUE EL SISTEMA RECOMIENDA PRESCRIBIR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65760" y="8869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guías MINSAL definen que fármacos tiene derecho a recibir cada paciente GES. Estar en ellas es clave.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8595360" cy="3657600"/>
        </p:xfrm>
        <a:graphic>
          <a:graphicData uri="http://schemas.openxmlformats.org/drawingml/2006/table">
            <a:tbl>
              <a:tblPr/>
              <a:tblGrid>
                <a:gridCol w="1828800"/>
                <a:gridCol w="4754880"/>
                <a:gridCol w="2011680"/>
              </a:tblGrid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Condicion 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Medicamentos clave recomendados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Guía vigente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9E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Cáncer de Mama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Trastuzumab, TDM-1, Pertuzumab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Inhib. CDK (palbociclib/ribociclib)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Bifosfonatos / Denosumab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 (Res. 298/2024)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Cáncer de Pulmón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Quimioterapia basada en platino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Inmunoterapia (indicación creciente)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Leucemia &lt; 15 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Protocolos de quimioterapia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pediatrica 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Leucemia adultos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Quimioterapia sistemica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Inhib. de tirosina quinasa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Cáncer Colorrectal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QMT FOLFOX/FOLFIRI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Bevacizumab (en revisión)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Osteosarcoma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QMT neoadyuvante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(metotrexato altas dosis, cisplatino)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1888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de todas las guías disponibles en diprece.minsal.cl  |  Acceso libre sin autenticación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ISP/ANAMED: LA PUERTA DE ENTRADA OBLIGATORIA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869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Sanitario ISP vigente, ningún medicamento puede participar en licitaciones públicas en Chile.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316736"/>
            <a:ext cx="841248" cy="8412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1673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45336" y="1673352"/>
            <a:ext cx="292608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01368" y="1554480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2249424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Admisibilidad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2596896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completitud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días hábiles)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95728" y="1316736"/>
            <a:ext cx="841248" cy="841248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131673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82696" y="1673352"/>
            <a:ext cx="292608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38728" y="1554480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2249424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11680" y="2596896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Calidad, seguridad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eficacia (6-18 meses)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33088" y="1316736"/>
            <a:ext cx="841248" cy="841248"/>
          </a:xfrm>
          <a:prstGeom prst="ellipse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131673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020056" y="1673352"/>
            <a:ext cx="292608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6088" y="1554480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49040" y="2249424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B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49040" y="2596896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o rechazo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registro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870448" y="1316736"/>
            <a:ext cx="841248" cy="8412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70448" y="131673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757416" y="1673352"/>
            <a:ext cx="292608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13448" y="1554480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2249424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0" y="2596896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ISP único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Vigencia: 5 años. Renovable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607808" y="1316736"/>
            <a:ext cx="841248" cy="8412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07808" y="131673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223760" y="2249424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Licitación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223760" y="2596896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 en Mercado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(CENABAST/LRS)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3520440"/>
            <a:ext cx="2816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520440"/>
            <a:ext cx="9144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359359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registro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" y="3931920"/>
            <a:ext cx="2377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4005072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Ordinario, Simplificado y Abreviado. Cada uno tiene distinto arancel y plazo de evaluación.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18688" y="3520440"/>
            <a:ext cx="2816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18688" y="3520440"/>
            <a:ext cx="91440" cy="1371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9856" y="359359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Biológicos y biosimilares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19856" y="3931920"/>
            <a:ext cx="2377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19856" y="4005072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ANAMED aplica criterios adicionales de bioequivalencia y comparabilidad para estos productos.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63056" y="3520440"/>
            <a:ext cx="2816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63056" y="3520440"/>
            <a:ext cx="91440" cy="1371600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64224" y="359359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pública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64224" y="3931920"/>
            <a:ext cx="2377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64224" y="4005072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individual por registro en registrosanitario.ispch.gob.cl. Sin descarga masiva disponible.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PARA NUEVOS ENTRANTES EN ONCOLOGÍA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869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cruzado: gasto público  |  guías clínicas  |  estructura de mercado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261872"/>
            <a:ext cx="4251960" cy="1627632"/>
          </a:xfrm>
          <a:prstGeom prst="rect">
            <a:avLst/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261872"/>
            <a:ext cx="109728" cy="16276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35808" y="1353312"/>
            <a:ext cx="132588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35808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oportunidad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1371600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86968" y="13898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Biosimilares oncológicos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1810512"/>
            <a:ext cx="39776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883664"/>
            <a:ext cx="3977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Trastuzumab lidera el gasto con $26.138 MM. El mercado público compra via licitación: un biosimilar con precio competitivo y registro ISP tiene ventaja directa.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81728" y="1261872"/>
            <a:ext cx="4251960" cy="1627632"/>
          </a:xfrm>
          <a:prstGeom prst="rect">
            <a:avLst/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1261872"/>
            <a:ext cx="109728" cy="16276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16368" y="1353312"/>
            <a:ext cx="132588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6368" y="13533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creciente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864608" y="1371600"/>
            <a:ext cx="411480" cy="41148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67528" y="13898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Inmunoterapia anti-PD1/PD-L1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64608" y="1810512"/>
            <a:ext cx="39776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883664"/>
            <a:ext cx="3977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Nivolumab + Pembrolizumab suman $20.400 MM. Las guías GES de pulmón y colorrectal aun no incluyen inmunoterapia formalmente: posible expansión regulatoria.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1168" y="3044952"/>
            <a:ext cx="4251960" cy="1627632"/>
          </a:xfrm>
          <a:prstGeom prst="rect">
            <a:avLst/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1168" y="3044952"/>
            <a:ext cx="109728" cy="1627632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5808" y="3136392"/>
            <a:ext cx="1325880" cy="256032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35808" y="31363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guía / compra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84048" y="3154680"/>
            <a:ext cx="411480" cy="411480"/>
          </a:xfrm>
          <a:prstGeom prst="ellipse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86968" y="31729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Inhibidores CDK y terapias target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048" y="3593592"/>
            <a:ext cx="39776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666744"/>
            <a:ext cx="3977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GPC cáncer de mama recomienda inhib. CDK (palbociclib/ribociclib) para RH+/HER2-. Compra pública aun limitada versus el volumen potencial de la indicación.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81728" y="3044952"/>
            <a:ext cx="4251960" cy="1627632"/>
          </a:xfrm>
          <a:prstGeom prst="rect">
            <a:avLst/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81728" y="3044952"/>
            <a:ext cx="109728" cy="16276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16368" y="3136392"/>
            <a:ext cx="132588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16368" y="31363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y distribución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864608" y="3154680"/>
            <a:ext cx="411480" cy="411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67528" y="31729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territorial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64608" y="3593592"/>
            <a:ext cx="39776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3666744"/>
            <a:ext cx="3977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Araucanía, Bío-Bío y Valparaíso concentran el mayor % de clientes CENABAST fuera de la RM. Estrategias de acceso regional diferencian a nuevos proveedores.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necesita saber antes de entrar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27432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9344"/>
            <a:ext cx="41148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9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87552" y="159105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público oncológico supera $300.000 MM CLP anuales y crece más del 27% al año.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87552" y="21945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Trastuzumab, Nivolumab y Pembrolizumab son los tres oncológicos de mayor gasto actual.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16352"/>
            <a:ext cx="41148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87552" y="279806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tres rutas de acceso: CENABAST Intermediación, Ley Ricarte Soto y GES/AUGE.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19856"/>
            <a:ext cx="41148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19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87552" y="34015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Sanitario ISP es el prerequisito absoluto. Sin el no se puede licitar.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41148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87552" y="40050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Biosimilares de trastuzumab e inmunoterapia (pulmón, colorrectal) son las mayores brechas de oportunidad.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9011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Anuario CENABAST 2024  |  Guías GES/AUGE MINSAL  |  ISP ANAMED  |  API Mercado Público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Inteligencia de Mercado Oncológico Chile</dc:title>
  <dc:subject>PptxGenJS Presentation</dc:subject>
  <dc:creator>PptxGenJS</dc:creator>
  <cp:lastModifiedBy>PptxGenJS</cp:lastModifiedBy>
  <cp:revision>1</cp:revision>
  <dcterms:created xsi:type="dcterms:W3CDTF">2026-06-15T17:45:47Z</dcterms:created>
  <dcterms:modified xsi:type="dcterms:W3CDTF">2026-06-15T17:45:47Z</dcterms:modified>
</cp:coreProperties>
</file>